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FATHOM measures the Ontario auto insurance market rather than shopping it. A refusal with its exact reason is as valuable an output as a price — that's the whole thesis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dozen underwriters wearing a hundred storefronts, a rule change that quietly unbundled coverage, and refusals that vanish instead of getting recorded. That's the gap FATHOM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one chart is the whole instrument. Every insurer drops from the surface to wherever it actually stopped — most lines stop almost immediately, one line runs deep. That's the market, honestly rendered.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stages, but the gate is the one that matters — it's not a step in the middle, it's a checkpoint every single proposed action passes through, every time, no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denials, real rule IDs, hash-chained so no one can quietly edit the log afterward. This is P-HYPO-LICENCE-01 firing every time the hypothetical profile hits a licence-number field — deterministic, not a language model's judgment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single-signal match is recorded as a hypothesis and never merged — the dedup metric would be trivial to inflate by merging on a guess, and the spec names that as an anti-goal.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with confidence, not apology: an honest zero-price report with four evidenced findings is a stronger result than a report padded with numbers nobody actually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actually happened during a live run, one step from shipping in a report. The fix is a structural precondition now — a price is only believed if a real field was filled first. Caught by testing, not by luck.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not going to oversell this one — it's a real, working mechanism with exactly one populated rung today. The ladder is the right shape; it just needs more evidenced refusals feeding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people ask about first. The model never touches the permission decision or the reported price — both are plain deterministic code, testable and auditable without an API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492 policy-audit entries and 148 evidence artifacts, both hash-chained and both re-verified in this run — 161 tests green, PII sweep clean across every text file in the repo including the generated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close: I'd rather hand over fewer numbers I can stand behind, with every gap labelled, than a fuller-looking report with silent guesses inside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9768" y="2331720"/>
            <a:ext cx="5852160" cy="0"/>
          </a:xfrm>
          <a:prstGeom prst="line">
            <a:avLst/>
          </a:prstGeom>
          <a:noFill/>
          <a:ln w="12700">
            <a:solidFill>
              <a:srgbClr val="1C36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20008" y="2331720"/>
            <a:ext cx="0" cy="178308"/>
          </a:xfrm>
          <a:prstGeom prst="line">
            <a:avLst/>
          </a:prstGeom>
          <a:noFill/>
          <a:ln w="15875">
            <a:solidFill>
              <a:srgbClr val="7C6B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88004" y="2478024"/>
            <a:ext cx="64008" cy="64008"/>
          </a:xfrm>
          <a:prstGeom prst="ellipse">
            <a:avLst/>
          </a:prstGeom>
          <a:solidFill>
            <a:srgbClr val="7C6BAD"/>
          </a:solidFill>
          <a:ln w="12700">
            <a:solidFill>
              <a:srgbClr val="7C6B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70248" y="2331720"/>
            <a:ext cx="0" cy="475488"/>
          </a:xfrm>
          <a:prstGeom prst="line">
            <a:avLst/>
          </a:prstGeom>
          <a:noFill/>
          <a:ln w="15875">
            <a:solidFill>
              <a:srgbClr val="7C6B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8244" y="2775204"/>
            <a:ext cx="64008" cy="64008"/>
          </a:xfrm>
          <a:prstGeom prst="ellipse">
            <a:avLst/>
          </a:prstGeom>
          <a:solidFill>
            <a:srgbClr val="7C6BAD"/>
          </a:solidFill>
          <a:ln w="12700">
            <a:solidFill>
              <a:srgbClr val="7C6B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488" y="2331720"/>
            <a:ext cx="0" cy="261518"/>
          </a:xfrm>
          <a:prstGeom prst="line">
            <a:avLst/>
          </a:prstGeom>
          <a:noFill/>
          <a:ln w="15875">
            <a:solidFill>
              <a:srgbClr val="7C6B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88484" y="2561234"/>
            <a:ext cx="64008" cy="64008"/>
          </a:xfrm>
          <a:prstGeom prst="ellipse">
            <a:avLst/>
          </a:prstGeom>
          <a:solidFill>
            <a:srgbClr val="7C6BAD"/>
          </a:solidFill>
          <a:ln w="12700">
            <a:solidFill>
              <a:srgbClr val="7C6B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70728" y="2331720"/>
            <a:ext cx="0" cy="1129284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8724" y="3429000"/>
            <a:ext cx="64008" cy="640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0968" y="2331720"/>
            <a:ext cx="0" cy="356616"/>
          </a:xfrm>
          <a:prstGeom prst="line">
            <a:avLst/>
          </a:prstGeom>
          <a:noFill/>
          <a:ln w="15875">
            <a:solidFill>
              <a:srgbClr val="7C6B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8964" y="2656332"/>
            <a:ext cx="64008" cy="64008"/>
          </a:xfrm>
          <a:prstGeom prst="ellipse">
            <a:avLst/>
          </a:prstGeom>
          <a:solidFill>
            <a:srgbClr val="7C6BAD"/>
          </a:solidFill>
          <a:ln w="12700">
            <a:solidFill>
              <a:srgbClr val="7C6B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71208" y="2331720"/>
            <a:ext cx="0" cy="594360"/>
          </a:xfrm>
          <a:prstGeom prst="line">
            <a:avLst/>
          </a:prstGeom>
          <a:noFill/>
          <a:ln w="15875">
            <a:solidFill>
              <a:srgbClr val="7C6B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39204" y="2894076"/>
            <a:ext cx="64008" cy="64008"/>
          </a:xfrm>
          <a:prstGeom prst="ellipse">
            <a:avLst/>
          </a:prstGeom>
          <a:solidFill>
            <a:srgbClr val="7C6BAD"/>
          </a:solidFill>
          <a:ln w="12700">
            <a:solidFill>
              <a:srgbClr val="7C6B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1448" y="2331720"/>
            <a:ext cx="0" cy="237744"/>
          </a:xfrm>
          <a:prstGeom prst="line">
            <a:avLst/>
          </a:prstGeom>
          <a:noFill/>
          <a:ln w="15875">
            <a:solidFill>
              <a:srgbClr val="7C6B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9444" y="2537460"/>
            <a:ext cx="64008" cy="64008"/>
          </a:xfrm>
          <a:prstGeom prst="ellipse">
            <a:avLst/>
          </a:prstGeom>
          <a:solidFill>
            <a:srgbClr val="7C6BAD"/>
          </a:solidFill>
          <a:ln w="12700">
            <a:solidFill>
              <a:srgbClr val="7C6B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1688" y="2331720"/>
            <a:ext cx="0" cy="772668"/>
          </a:xfrm>
          <a:prstGeom prst="line">
            <a:avLst/>
          </a:prstGeom>
          <a:noFill/>
          <a:ln w="15875">
            <a:solidFill>
              <a:srgbClr val="7C6B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684" y="3072384"/>
            <a:ext cx="64008" cy="64008"/>
          </a:xfrm>
          <a:prstGeom prst="ellipse">
            <a:avLst/>
          </a:prstGeom>
          <a:solidFill>
            <a:srgbClr val="7C6BAD"/>
          </a:solidFill>
          <a:ln w="12700">
            <a:solidFill>
              <a:srgbClr val="7C6B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306324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400" kern="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FATHOM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0" y="41605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the market. Prove the bottom.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81048" y="4800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evidence-grade instrument for the Ontario private-passenger auto insurance market.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ONTARIO ALL-QUOTE AGENT CHALLENGE</a:t>
            </a:r>
            <a:pPr algn="ctr" indent="0" marL="0">
              <a:buNone/>
            </a:pPr>
            <a:r>
              <a:rPr lang="en-US" sz="110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</a:t>
            </a:r>
            <a:pPr algn="ctr" indent="0" marL="0">
              <a:buNone/>
            </a:pPr>
            <a:r>
              <a:rPr lang="en-US" sz="1100" spc="200" kern="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TARUN KARNATI, TORONTO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499616"/>
            <a:ext cx="82296" cy="82296"/>
          </a:xfrm>
          <a:prstGeom prst="ellipse">
            <a:avLst/>
          </a:prstGeom>
          <a:solidFill>
            <a:srgbClr val="7C6B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≈30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383280" y="142646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insurers wear about 100 different names in this market.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82296" cy="82296"/>
          </a:xfrm>
          <a:prstGeom prst="ellipse">
            <a:avLst/>
          </a:prstGeom>
          <a:solidFill>
            <a:srgbClr val="7C6B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Jul 2026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83280" y="28437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accident benefits became optional — two prices are rarely the same product.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334256"/>
            <a:ext cx="82296" cy="82296"/>
          </a:xfrm>
          <a:prstGeom prst="ellipse">
            <a:avLst/>
          </a:prstGeom>
          <a:solidFill>
            <a:srgbClr val="7C6B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206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42611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that refuse an applicant appear in a standard comparison tool.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1234440"/>
            <a:ext cx="11094415" cy="0"/>
          </a:xfrm>
          <a:prstGeom prst="line">
            <a:avLst/>
          </a:prstGeom>
          <a:noFill/>
          <a:ln w="9525">
            <a:solidFill>
              <a:srgbClr val="1C36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Sounding Chart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12064" y="1380744"/>
            <a:ext cx="11167567" cy="4690872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pic>
        <p:nvPicPr>
          <p:cNvPr id="5" name="Image 0" descr="/private/tmp/claude-501/-Users-tarunkarnati-Desktop-Fathom/10ec18e6-3352-4b5e-9eaf-42d7905bdc19/scratchpad/deck/assets/sound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11094415" cy="461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rate source is a sounding line. </a:t>
            </a:r>
            <a:pPr indent="0" marL="0">
              <a:buNone/>
            </a:pPr>
            <a:r>
              <a:rPr lang="en-US" sz="14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is how far the agent got. The marker colour is why it stopped.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pipeline. One gate everything passes through.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635709" cy="1005840"/>
          </a:xfrm>
          <a:prstGeom prst="roundRect">
            <a:avLst>
              <a:gd name="adj" fmla="val 2727"/>
            </a:avLst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63240"/>
            <a:ext cx="163570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84349" y="306324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40381" y="3063240"/>
            <a:ext cx="1635709" cy="1005840"/>
          </a:xfrm>
          <a:prstGeom prst="roundRect">
            <a:avLst>
              <a:gd name="adj" fmla="val 2727"/>
            </a:avLst>
          </a:prstGeom>
          <a:solidFill>
            <a:srgbClr val="D9614C"/>
          </a:solidFill>
          <a:ln w="19050">
            <a:solidFill>
              <a:srgbClr val="D961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0381" y="3063240"/>
            <a:ext cx="163570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76090" y="306324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2122" y="3063240"/>
            <a:ext cx="1635709" cy="1005840"/>
          </a:xfrm>
          <a:prstGeom prst="roundRect">
            <a:avLst>
              <a:gd name="adj" fmla="val 2727"/>
            </a:avLst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2122" y="3063240"/>
            <a:ext cx="163570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planner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67832" y="306324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23864" y="3063240"/>
            <a:ext cx="1635709" cy="1005840"/>
          </a:xfrm>
          <a:prstGeom prst="roundRect">
            <a:avLst>
              <a:gd name="adj" fmla="val 2727"/>
            </a:avLst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3864" y="3063240"/>
            <a:ext cx="163570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59573" y="306324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15605" y="3063240"/>
            <a:ext cx="1635709" cy="1005840"/>
          </a:xfrm>
          <a:prstGeom prst="roundRect">
            <a:avLst>
              <a:gd name="adj" fmla="val 2727"/>
            </a:avLst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5605" y="3063240"/>
            <a:ext cx="163570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chain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51314" y="306324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07346" y="3063240"/>
            <a:ext cx="1635709" cy="1005840"/>
          </a:xfrm>
          <a:prstGeom prst="roundRect">
            <a:avLst>
              <a:gd name="adj" fmla="val 2727"/>
            </a:avLst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07346" y="3063240"/>
            <a:ext cx="163570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results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proposed action — navigate, fill, submit — is evaluated by the policy engine before it ever reaches a real page.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BY CONSTRUCTION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is code, not prompting.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policy rules — </a:t>
            </a:r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4FD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enforced live. It cannot buy, pay, sign, fake a licence, bypass a CAPTCHA, or mix two profiles.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12064" y="2386584"/>
            <a:ext cx="11167567" cy="3593592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pic>
        <p:nvPicPr>
          <p:cNvPr id="6" name="Image 0" descr="/private/tmp/claude-501/-Users-tarunkarnati-Desktop-Fathom/10ec18e6-3352-4b5e-9eaf-42d7905bdc19/scratchpad/deck/assets/gate_deni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423160"/>
            <a:ext cx="11094415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is not trusted to behave — it is prevented.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UNTANGLING THE 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indent="0" marL="0">
              <a:buNone/>
            </a:pPr>
            <a:r>
              <a:rPr lang="en-US" sz="18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brands  →  </a:t>
            </a:r>
            <a:pPr indent="0" marL="0">
              <a:buNone/>
            </a:pPr>
            <a:r>
              <a:rPr lang="en-US" sz="3000" b="1" dirty="0">
                <a:solidFill>
                  <a:srgbClr val="4FD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pPr indent="0" marL="0">
              <a:buNone/>
            </a:pPr>
            <a:r>
              <a:rPr lang="en-US" sz="18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distinct rate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2064" y="1472184"/>
            <a:ext cx="11167567" cy="4416552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pic>
        <p:nvPicPr>
          <p:cNvPr id="5" name="Image 0" descr="/private/tmp/claude-501/-Users-tarunkarnati-Desktop-Fathom/10ec18e6-3352-4b5e-9eaf-42d7905bdc19/scratchpad/deck/assets/market_aviv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11094415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Aviva brands are one legal entity since </a:t>
            </a:r>
            <a:pPr indent="0" marL="0">
              <a:buNone/>
            </a:pPr>
            <a:r>
              <a:rPr lang="en-US" sz="1400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2026-01-01</a:t>
            </a:r>
            <a:pPr indent="0" marL="0">
              <a:buNone/>
            </a:pPr>
            <a:r>
              <a:rPr lang="en-US" sz="14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merged only on </a:t>
            </a:r>
            <a:pPr indent="0" marL="0">
              <a:buNone/>
            </a:pPr>
            <a:r>
              <a:rPr lang="en-US" sz="1400" b="1" dirty="0">
                <a:solidFill>
                  <a:srgbClr val="4FD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independently evidenced signals.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SURVEY FOUND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findings, stated confidently.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12232F"/>
          </a:solidFill>
          <a:ln w="15875">
            <a:solidFill>
              <a:srgbClr val="D961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6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route priced a hypothetical profile. Every benchmark-comparable price is tagged SANDBOX.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292608" cy="292608"/>
          </a:xfrm>
          <a:prstGeom prst="ellipse">
            <a:avLst/>
          </a:prstGeom>
          <a:solidFill>
            <a:srgbClr val="12232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13055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comparison sites sit behind bot controls — detected and respected, never bypassed.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292608" cy="292608"/>
          </a:xfrm>
          <a:prstGeom prst="ellipse">
            <a:avLst/>
          </a:prstGeom>
          <a:solidFill>
            <a:srgbClr val="12232F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84378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walls at a driver's licence number; three other direct writers hit this build's own page-reading limit.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292608" cy="292608"/>
          </a:xfrm>
          <a:prstGeom prst="ellipse">
            <a:avLst/>
          </a:prstGeom>
          <a:solidFill>
            <a:srgbClr val="12232F"/>
          </a:solidFill>
          <a:ln w="15875">
            <a:solidFill>
              <a:srgbClr val="7C6B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6B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55701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residual market publishes its rates publicly — 6,440 provenanced rows extracted, page-cited, no premium computed.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4288536"/>
            <a:ext cx="2331720" cy="310896"/>
          </a:xfrm>
          <a:prstGeom prst="rect">
            <a:avLst/>
          </a:prstGeom>
          <a:solidFill>
            <a:srgbClr val="12232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28853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UNVERIFIED EXTRACTION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20440" y="42885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premium computed or claimed — territory definitions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78824" y="1380744"/>
            <a:ext cx="2798064" cy="2862072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pic>
        <p:nvPicPr>
          <p:cNvPr id="20" name="Image 0" descr="/private/tmp/claude-501/-Users-tarunkarnati-Desktop-Fathom/10ec18e6-3352-4b5e-9eaf-42d7905bdc19/scratchpad/deck/assets/residual_manu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15400" y="1417320"/>
            <a:ext cx="2724912" cy="2788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0350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outcome carries a timestamp, a reason code and evidence. These are findings, not failures.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THAT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fabricated price.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3246120"/>
          </a:xfrm>
          <a:prstGeom prst="roundRect">
            <a:avLst>
              <a:gd name="adj" fmla="val 845"/>
            </a:avLst>
          </a:prstGeom>
          <a:solidFill>
            <a:srgbClr val="080F16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09344"/>
            <a:ext cx="100584" cy="100584"/>
          </a:xfrm>
          <a:prstGeom prst="ellipse">
            <a:avLst/>
          </a:prstGeom>
          <a:solidFill>
            <a:srgbClr val="D961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609344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609344"/>
            <a:ext cx="100584" cy="100584"/>
          </a:xfrm>
          <a:prstGeom prst="ellipse">
            <a:avLst/>
          </a:prstGeom>
          <a:solidFill>
            <a:srgbClr val="4FD1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1045433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demo-fabrication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READER  (pre-fix, quarantined, never imported by the executor)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fields filled this run = 0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61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RETURNS: $223.50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← marketing “recent quotes” ticker, not a response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READER  (live, packages.executors.web.executor)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precondition: fields filled this run = 0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FD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RETURNS: None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FD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(refused)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reason: no field was filled before this figure appeared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73752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incident (2026-08-11) returned </a:t>
            </a:r>
            <a:pPr indent="0" marL="0">
              <a:buNone/>
            </a:pPr>
            <a:r>
              <a:rPr lang="en-US" sz="1250" b="1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$177.83</a:t>
            </a:r>
            <a:pPr indent="0" marL="0">
              <a:buNone/>
            </a:pPr>
            <a:r>
              <a:rPr lang="en-US" sz="125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MyChoice.ca marketing copy with zero fields filled — see docs/SAFETY.md. Reproduced above against a recaptured fixture of the same page, same failure class.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1722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that returns numbers is not the same as a system that returns evidence.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“NO” TO “NEXT”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Eligibility Frontier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refusal carries a reason. Inverted, those reasons become a ladder of what unlocks what.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" y="1792224"/>
            <a:ext cx="11167567" cy="3913632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pic>
        <p:nvPicPr>
          <p:cNvPr id="6" name="Image 0" descr="/private/tmp/claude-501/-Users-tarunkarnati-Desktop-Fathom/10ec18e6-3352-4b5e-9eaf-42d7905bdc19/scratchpad/deck/assets/fronti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11094415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Honestly thin right now: </a:t>
            </a:r>
            <a:pPr indent="0" marL="0">
              <a:buNone/>
            </a:pPr>
            <a:r>
              <a:rPr lang="en-US" sz="135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rung, opening one rate source. Three routes stay closed regardless — a capability limit in this build, not a rule the operator could satisfy.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DID THE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Specific, not generic.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618488"/>
            <a:ext cx="73152" cy="73152"/>
          </a:xfrm>
          <a:prstGeom prst="ellipse">
            <a:avLst/>
          </a:prstGeom>
          <a:solidFill>
            <a:srgbClr val="6E8C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774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form navigation across multi-step insurer journeys, mapping each site's questions to one canonical schema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395728"/>
            <a:ext cx="73152" cy="73152"/>
          </a:xfrm>
          <a:prstGeom prst="ellipse">
            <a:avLst/>
          </a:prstGeom>
          <a:solidFill>
            <a:srgbClr val="6E8C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10774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pages structurally rather than by brittle selectors, so layout changes don't break 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172968"/>
            <a:ext cx="73152" cy="73152"/>
          </a:xfrm>
          <a:prstGeom prst="ellipse">
            <a:avLst/>
          </a:prstGeom>
          <a:solidFill>
            <a:srgbClr val="6E8C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63240"/>
            <a:ext cx="10774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Findings: retrieval-gated question answering over its own evidence — cites artifacts, and refuses without calling the model at all when nothing retrieves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94415" cy="1417320"/>
          </a:xfrm>
          <a:prstGeom prst="roundRect">
            <a:avLst>
              <a:gd name="adj" fmla="val 1935"/>
            </a:avLst>
          </a:prstGeom>
          <a:solidFill>
            <a:srgbClr val="12232F"/>
          </a:solidFill>
          <a:ln w="19050">
            <a:solidFill>
              <a:srgbClr val="D961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42232"/>
            <a:ext cx="10454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61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DELIBERATELY DOES NOT 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48056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decides whether an action is permitted, and it never computes a number that gets reported. Those are deterministic code.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and honest.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777240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54480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3.12, stdlib gate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8218" y="1554480"/>
            <a:ext cx="3515258" cy="777240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2810" y="1554480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 executor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7797" y="1554480"/>
            <a:ext cx="3515258" cy="777240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92389" y="1554480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cryptography (Fernet vault)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3515258" cy="777240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532888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content-addressed evidence store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8218" y="2532888"/>
            <a:ext cx="3515258" cy="777240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2810" y="2532888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hash-chained audit log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7797" y="2532888"/>
            <a:ext cx="3515258" cy="777240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2389" y="2532888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pdfplumber (one-time extraction)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3515258" cy="777240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11296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regex redaction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38218" y="3511296"/>
            <a:ext cx="3515258" cy="777240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2810" y="3511296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JS UI, no build step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7797" y="3511296"/>
            <a:ext cx="3515258" cy="777240"/>
          </a:xfrm>
          <a:prstGeom prst="rect">
            <a:avLst/>
          </a:prstGeom>
          <a:solidFill>
            <a:srgbClr val="12232F"/>
          </a:solidFill>
          <a:ln w="12700">
            <a:solidFill>
              <a:srgbClr val="1C36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2389" y="3511296"/>
            <a:ext cx="31860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API (retrieval-gated only)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351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D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48640" y="5696712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38218" y="5074920"/>
            <a:ext cx="351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D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338218" y="5696712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FILES, PII SWEEP CLEAN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27797" y="5074920"/>
            <a:ext cx="351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D1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2/2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127797" y="5696712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CHAINS INTACT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E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DIDN'T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plainly.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64008" cy="64008"/>
          </a:xfrm>
          <a:prstGeom prst="ellipse">
            <a:avLst/>
          </a:prstGeom>
          <a:solidFill>
            <a:srgbClr val="1C3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00200"/>
            <a:ext cx="510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executor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8728" y="1682496"/>
            <a:ext cx="64008" cy="64008"/>
          </a:xfrm>
          <a:prstGeom prst="ellipse">
            <a:avLst/>
          </a:prstGeom>
          <a:solidFill>
            <a:srgbClr val="1C3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4760" y="1600200"/>
            <a:ext cx="510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Rulebook compiler (premium calculation)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9424"/>
            <a:ext cx="64008" cy="64008"/>
          </a:xfrm>
          <a:prstGeom prst="ellipse">
            <a:avLst/>
          </a:prstGeom>
          <a:solidFill>
            <a:srgbClr val="1C3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67128"/>
            <a:ext cx="510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price probe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78728" y="2249424"/>
            <a:ext cx="64008" cy="64008"/>
          </a:xfrm>
          <a:prstGeom prst="ellipse">
            <a:avLst/>
          </a:prstGeom>
          <a:solidFill>
            <a:srgbClr val="1C3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4760" y="2167128"/>
            <a:ext cx="510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inversion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64008" cy="64008"/>
          </a:xfrm>
          <a:prstGeom prst="ellipse">
            <a:avLst/>
          </a:prstGeom>
          <a:solidFill>
            <a:srgbClr val="1C3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734056"/>
            <a:ext cx="510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arbitrage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78728" y="2816352"/>
            <a:ext cx="64008" cy="64008"/>
          </a:xfrm>
          <a:prstGeom prst="ellipse">
            <a:avLst/>
          </a:prstGeom>
          <a:solidFill>
            <a:srgbClr val="1C3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4760" y="2734056"/>
            <a:ext cx="510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pattern detector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94415" cy="0"/>
          </a:xfrm>
          <a:prstGeom prst="line">
            <a:avLst/>
          </a:prstGeom>
          <a:noFill/>
          <a:ln w="9525">
            <a:solidFill>
              <a:srgbClr val="1C36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976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smaller number of trustworthy results with excellent evidence.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D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 reach and the uncertainty are legible.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C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2026-08-13T03:29:34Z</dcterms:created>
  <dcterms:modified xsi:type="dcterms:W3CDTF">2026-08-13T03:29:34Z</dcterms:modified>
</cp:coreProperties>
</file>